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 autoCompressPictures="0" saveSubsetFonts="1" strictFirstAndLastChars="0">
  <p:sldMasterIdLst>
    <p:sldMasterId id="2147483659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/>
  <p:notesSz cx="6858000" cy="9144000"/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 showComments="0">
  <p:slideViewPr>
    <p:cSldViewPr snapToGrid="0">
      <p:cViewPr varScale="1">
        <p:scale>
          <a:sx d="100" n="100"/>
          <a:sy d="100" n="100"/>
        </p:scale>
        <p:origin x="0" y="0"/>
      </p:cViewPr>
      <p:guideLst>
        <p:guide orient="horz" pos="1620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" Type="http://schemas.openxmlformats.org/officeDocument/2006/relationships/theme" Target="theme/theme2.xml" /><Relationship Id="rId2" Type="http://schemas.openxmlformats.org/officeDocument/2006/relationships/viewProps" Target="viewProps.xml" /><Relationship Id="rId3" Type="http://schemas.openxmlformats.org/officeDocument/2006/relationships/presProps" Target="presProps.xml" /><Relationship Id="rId4" Type="http://schemas.openxmlformats.org/officeDocument/2006/relationships/slideMaster" Target="slideMasters/slideMaster1.xml" /></Relationship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11" Target="../slideLayouts/slideLayout11.xml" Type="http://schemas.openxmlformats.org/officeDocument/2006/relationships/slideLayout" /><Relationship Id="rId10" Target="../slideLayouts/slideLayout10.xml" Type="http://schemas.openxmlformats.org/officeDocument/2006/relationships/slideLayout" /><Relationship Id="rId12" Target="../theme/theme2.xml" Type="http://schemas.openxmlformats.org/officeDocument/2006/relationships/theme" /><Relationship Id="rId9" Target="../slideLayouts/slideLayout9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r" lvl="0">
              <a:buNone/>
              <a:defRPr sz="1000">
                <a:solidFill>
                  <a:schemeClr val="lt2"/>
                </a:solidFill>
              </a:defRPr>
            </a:lvl1pPr>
            <a:lvl2pPr algn="r" lvl="1">
              <a:buNone/>
              <a:defRPr sz="1000">
                <a:solidFill>
                  <a:schemeClr val="lt2"/>
                </a:solidFill>
              </a:defRPr>
            </a:lvl2pPr>
            <a:lvl3pPr algn="r" lvl="2">
              <a:buNone/>
              <a:defRPr sz="1000">
                <a:solidFill>
                  <a:schemeClr val="lt2"/>
                </a:solidFill>
              </a:defRPr>
            </a:lvl3pPr>
            <a:lvl4pPr algn="r" lvl="3">
              <a:buNone/>
              <a:defRPr sz="1000">
                <a:solidFill>
                  <a:schemeClr val="lt2"/>
                </a:solidFill>
              </a:defRPr>
            </a:lvl4pPr>
            <a:lvl5pPr algn="r" lvl="4">
              <a:buNone/>
              <a:defRPr sz="1000">
                <a:solidFill>
                  <a:schemeClr val="lt2"/>
                </a:solidFill>
              </a:defRPr>
            </a:lvl5pPr>
            <a:lvl6pPr algn="r" lvl="5">
              <a:buNone/>
              <a:defRPr sz="1000">
                <a:solidFill>
                  <a:schemeClr val="lt2"/>
                </a:solidFill>
              </a:defRPr>
            </a:lvl6pPr>
            <a:lvl7pPr algn="r" lvl="6">
              <a:buNone/>
              <a:defRPr sz="1000">
                <a:solidFill>
                  <a:schemeClr val="lt2"/>
                </a:solidFill>
              </a:defRPr>
            </a:lvl7pPr>
            <a:lvl8pPr algn="r" lvl="7">
              <a:buNone/>
              <a:defRPr sz="1000">
                <a:solidFill>
                  <a:schemeClr val="lt2"/>
                </a:solidFill>
              </a:defRPr>
            </a:lvl8pPr>
            <a:lvl9pPr algn="r" lvl="8">
              <a:buNone/>
              <a:defRPr sz="1000">
                <a:solidFill>
                  <a:schemeClr val="lt2"/>
                </a:solidFill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folHlink="folHlink" hlink="hlink" tx1="dk1" tx2="lt2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and the Future of Financial Analysts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Jacob Meli</a:t>
            </a:r>
            <a:br/>
            <a:r>
              <a:rPr/>
              <a:t>Intro to AI</a:t>
            </a:r>
            <a:br/>
            <a:r>
              <a:rPr/>
              <a:t>May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Career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Analyze financial data</a:t>
            </a:r>
          </a:p>
          <a:p>
            <a:pPr lvl="0"/>
            <a:r>
              <a:rPr/>
              <a:t>Create forecasts</a:t>
            </a:r>
          </a:p>
          <a:p>
            <a:pPr lvl="0"/>
            <a:r>
              <a:rPr/>
              <a:t>Evaluate investments</a:t>
            </a:r>
          </a:p>
          <a:p>
            <a:pPr lvl="0"/>
            <a:r>
              <a:rPr/>
              <a:t>Support business decisions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I Chose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Interested in markets and business</a:t>
            </a:r>
          </a:p>
          <a:p>
            <a:pPr lvl="0"/>
            <a:r>
              <a:rPr/>
              <a:t>Enjoy analytical thinking</a:t>
            </a:r>
          </a:p>
          <a:p>
            <a:pPr lvl="0"/>
            <a:r>
              <a:rPr/>
              <a:t>Interested in decision-making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Disruption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Automation of repetitive tasks</a:t>
            </a:r>
          </a:p>
          <a:p>
            <a:pPr lvl="0"/>
            <a:r>
              <a:rPr/>
              <a:t>Faster data analysis</a:t>
            </a:r>
          </a:p>
          <a:p>
            <a:pPr lvl="0"/>
            <a:r>
              <a:rPr/>
              <a:t>AI generated reports</a:t>
            </a:r>
          </a:p>
          <a:p>
            <a:pPr lvl="0"/>
            <a:r>
              <a:rPr/>
              <a:t>Reduced need for some entry-level work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Better forecasting</a:t>
            </a:r>
          </a:p>
          <a:p>
            <a:pPr lvl="0"/>
            <a:r>
              <a:rPr/>
              <a:t>Improved productivity</a:t>
            </a:r>
          </a:p>
          <a:p>
            <a:pPr lvl="0"/>
            <a:r>
              <a:rPr/>
              <a:t>Faster research</a:t>
            </a:r>
          </a:p>
          <a:p>
            <a:pPr lvl="0"/>
            <a:r>
              <a:rPr/>
              <a:t>Better risk analysis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in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Algorithmic trading</a:t>
            </a:r>
          </a:p>
          <a:p>
            <a:pPr lvl="0"/>
            <a:r>
              <a:rPr/>
              <a:t>Predictive analytics</a:t>
            </a:r>
          </a:p>
          <a:p>
            <a:pPr lvl="0"/>
            <a:r>
              <a:rPr/>
              <a:t>Automated reporting</a:t>
            </a:r>
          </a:p>
          <a:p>
            <a:pPr lvl="0"/>
            <a:r>
              <a:rPr/>
              <a:t>AI powered investment tools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Gaining an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Learn AI tools</a:t>
            </a:r>
          </a:p>
          <a:p>
            <a:pPr lvl="0"/>
            <a:r>
              <a:rPr/>
              <a:t>Improve Excel skills</a:t>
            </a:r>
          </a:p>
          <a:p>
            <a:pPr lvl="0"/>
            <a:r>
              <a:rPr/>
              <a:t>Learn Python</a:t>
            </a:r>
          </a:p>
          <a:p>
            <a:pPr lvl="0"/>
            <a:r>
              <a:rPr/>
              <a:t>Use AI responsibly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347663">
              <a:buAutoNum type="arabicPeriod"/>
            </a:pPr>
            <a:r>
              <a:rPr/>
              <a:t>Improve Excel skills</a:t>
            </a:r>
          </a:p>
          <a:p>
            <a:pPr lvl="0" indent="0" marL="347663">
              <a:buAutoNum type="arabicPeriod"/>
            </a:pPr>
            <a:r>
              <a:rPr/>
              <a:t>Learn Python</a:t>
            </a:r>
          </a:p>
          <a:p>
            <a:pPr lvl="0" indent="0" marL="347663">
              <a:buAutoNum type="arabicPeriod"/>
            </a:pPr>
            <a:r>
              <a:rPr/>
              <a:t>Study AI tools in finance</a:t>
            </a:r>
          </a:p>
          <a:p>
            <a:pPr lvl="0" indent="0" marL="347663">
              <a:buAutoNum type="arabicPeriod"/>
            </a:pPr>
            <a:r>
              <a:rPr/>
              <a:t>Practice financial analysis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will change finance careers, but professionals who learn to work effectively with AI can become more valuable and productive.</a:t>
            </a: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2026-05-02T02:14:12Z</dcterms:created>
  <dcterms:modified xsi:type="dcterms:W3CDTF">2026-05-02T02:14:12Z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